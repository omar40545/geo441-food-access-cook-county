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561" autoAdjust="0"/>
  </p:normalViewPr>
  <p:slideViewPr>
    <p:cSldViewPr snapToGrid="0">
      <p:cViewPr varScale="1">
        <p:scale>
          <a:sx n="77" d="100"/>
          <a:sy n="77" d="100"/>
        </p:scale>
        <p:origin x="91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5EBCEE-8665-467B-93D5-778BBCD126FE}" type="datetimeFigureOut">
              <a:rPr lang="en-US" smtClean="0"/>
              <a:t>14/06/2025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601375-74B7-44CC-A8F4-B59AEC533C24}" type="slidenum">
              <a:rPr lang="en-US" smtClean="0"/>
              <a:t>‹#›</a:t>
            </a:fld>
            <a:endParaRPr lang="en-US"/>
          </a:p>
        </p:txBody>
      </p:sp>
    </p:spTree>
    <p:extLst>
      <p:ext uri="{BB962C8B-B14F-4D97-AF65-F5344CB8AC3E}">
        <p14:creationId xmlns:p14="http://schemas.microsoft.com/office/powerpoint/2010/main" val="1452581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601375-74B7-44CC-A8F4-B59AEC533C24}" type="slidenum">
              <a:rPr lang="en-US" smtClean="0"/>
              <a:t>6</a:t>
            </a:fld>
            <a:endParaRPr lang="en-US"/>
          </a:p>
        </p:txBody>
      </p:sp>
    </p:spTree>
    <p:extLst>
      <p:ext uri="{BB962C8B-B14F-4D97-AF65-F5344CB8AC3E}">
        <p14:creationId xmlns:p14="http://schemas.microsoft.com/office/powerpoint/2010/main" val="1222067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6D0E963-FE19-4AA5-A915-8DAFAA68EB4F}" type="datetimeFigureOut">
              <a:rPr lang="en-US" smtClean="0"/>
              <a:t>14/06/2025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2872314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6D0E963-FE19-4AA5-A915-8DAFAA68EB4F}" type="datetimeFigureOut">
              <a:rPr lang="en-US" smtClean="0"/>
              <a:t>14/06/2025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19642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6D0E963-FE19-4AA5-A915-8DAFAA68EB4F}" type="datetimeFigureOut">
              <a:rPr lang="en-US" smtClean="0"/>
              <a:t>14/06/2025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3826930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6D0E963-FE19-4AA5-A915-8DAFAA68EB4F}" type="datetimeFigureOut">
              <a:rPr lang="en-US" smtClean="0"/>
              <a:t>14/06/2025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1874520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6D0E963-FE19-4AA5-A915-8DAFAA68EB4F}" type="datetimeFigureOut">
              <a:rPr lang="en-US" smtClean="0"/>
              <a:t>14/06/2025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1715829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6D0E963-FE19-4AA5-A915-8DAFAA68EB4F}" type="datetimeFigureOut">
              <a:rPr lang="en-US" smtClean="0"/>
              <a:t>14/06/2025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702511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D0E963-FE19-4AA5-A915-8DAFAA68EB4F}" type="datetimeFigureOut">
              <a:rPr lang="en-US" smtClean="0"/>
              <a:t>14/06/2025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2166377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6D0E963-FE19-4AA5-A915-8DAFAA68EB4F}" type="datetimeFigureOut">
              <a:rPr lang="en-US" smtClean="0"/>
              <a:t>14/06/2025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3754791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6D0E963-FE19-4AA5-A915-8DAFAA68EB4F}" type="datetimeFigureOut">
              <a:rPr lang="en-US" smtClean="0"/>
              <a:t>14/06/2025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3546177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6D0E963-FE19-4AA5-A915-8DAFAA68EB4F}" type="datetimeFigureOut">
              <a:rPr lang="en-US" smtClean="0"/>
              <a:t>14/06/2025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3269830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6D0E963-FE19-4AA5-A915-8DAFAA68EB4F}" type="datetimeFigureOut">
              <a:rPr lang="en-US" smtClean="0"/>
              <a:t>14/06/2025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AFCF35-052E-4DBF-92D8-4D6DCCFE5CFA}" type="slidenum">
              <a:rPr lang="en-US" smtClean="0"/>
              <a:t>‹#›</a:t>
            </a:fld>
            <a:endParaRPr lang="en-US"/>
          </a:p>
        </p:txBody>
      </p:sp>
    </p:spTree>
    <p:extLst>
      <p:ext uri="{BB962C8B-B14F-4D97-AF65-F5344CB8AC3E}">
        <p14:creationId xmlns:p14="http://schemas.microsoft.com/office/powerpoint/2010/main" val="1581287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D0E963-FE19-4AA5-A915-8DAFAA68EB4F}" type="datetimeFigureOut">
              <a:rPr lang="en-US" smtClean="0"/>
              <a:t>14/06/2025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AFCF35-052E-4DBF-92D8-4D6DCCFE5CFA}" type="slidenum">
              <a:rPr lang="en-US" smtClean="0"/>
              <a:t>‹#›</a:t>
            </a:fld>
            <a:endParaRPr lang="en-US"/>
          </a:p>
        </p:txBody>
      </p:sp>
    </p:spTree>
    <p:extLst>
      <p:ext uri="{BB962C8B-B14F-4D97-AF65-F5344CB8AC3E}">
        <p14:creationId xmlns:p14="http://schemas.microsoft.com/office/powerpoint/2010/main" val="3306053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9681" y="366583"/>
            <a:ext cx="6509657" cy="2387600"/>
          </a:xfrm>
        </p:spPr>
        <p:txBody>
          <a:bodyPr>
            <a:normAutofit fontScale="90000"/>
          </a:bodyPr>
          <a:lstStyle/>
          <a:p>
            <a:r>
              <a:rPr lang="en-US" b="1" dirty="0" smtClean="0">
                <a:latin typeface="Goudy Old Style" panose="02020502050305020303" pitchFamily="18" charset="0"/>
              </a:rPr>
              <a:t>GIS Analysis of Food Access Inequities In Cook County </a:t>
            </a:r>
            <a:endParaRPr lang="en-US" b="1" dirty="0">
              <a:latin typeface="Goudy Old Style" panose="02020502050305020303" pitchFamily="18" charset="0"/>
            </a:endParaRPr>
          </a:p>
        </p:txBody>
      </p:sp>
      <p:sp>
        <p:nvSpPr>
          <p:cNvPr id="3" name="Subtitle 2"/>
          <p:cNvSpPr>
            <a:spLocks noGrp="1"/>
          </p:cNvSpPr>
          <p:nvPr>
            <p:ph type="subTitle" idx="1"/>
          </p:nvPr>
        </p:nvSpPr>
        <p:spPr>
          <a:xfrm>
            <a:off x="1567542" y="3582956"/>
            <a:ext cx="4257869" cy="1509226"/>
          </a:xfrm>
        </p:spPr>
        <p:txBody>
          <a:bodyPr>
            <a:normAutofit/>
          </a:bodyPr>
          <a:lstStyle/>
          <a:p>
            <a:r>
              <a:rPr lang="en-US" dirty="0" smtClean="0">
                <a:latin typeface="Goudy Old Style" panose="02020502050305020303" pitchFamily="18" charset="0"/>
              </a:rPr>
              <a:t>Name : Omar Sayeed Quadri</a:t>
            </a:r>
          </a:p>
          <a:p>
            <a:r>
              <a:rPr lang="en-US" dirty="0" smtClean="0">
                <a:latin typeface="Goudy Old Style" panose="02020502050305020303" pitchFamily="18" charset="0"/>
              </a:rPr>
              <a:t>Course : GEO – 441</a:t>
            </a:r>
          </a:p>
          <a:p>
            <a:r>
              <a:rPr lang="en-US" dirty="0" smtClean="0">
                <a:latin typeface="Goudy Old Style" panose="02020502050305020303" pitchFamily="18" charset="0"/>
              </a:rPr>
              <a:t>Instructor : C. Scott Smith</a:t>
            </a:r>
          </a:p>
          <a:p>
            <a:endParaRPr lang="en-US" dirty="0" smtClean="0">
              <a:latin typeface="Goudy Old Style" panose="02020502050305020303" pitchFamily="18" charset="0"/>
            </a:endParaRPr>
          </a:p>
          <a:p>
            <a:endParaRPr lang="en-US" dirty="0"/>
          </a:p>
        </p:txBody>
      </p:sp>
      <p:pic>
        <p:nvPicPr>
          <p:cNvPr id="1026" name="Picture 2" descr="Map of Cook County Illinoi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97865" y="533902"/>
            <a:ext cx="3894926" cy="555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5480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oudy Old Style" panose="02020502050305020303" pitchFamily="18" charset="0"/>
              </a:rPr>
              <a:t>Background &amp; Context</a:t>
            </a:r>
            <a:endParaRPr lang="en-US" dirty="0">
              <a:latin typeface="Goudy Old Style" panose="02020502050305020303" pitchFamily="18" charset="0"/>
            </a:endParaRPr>
          </a:p>
        </p:txBody>
      </p:sp>
      <p:sp>
        <p:nvSpPr>
          <p:cNvPr id="3" name="Content Placeholder 2"/>
          <p:cNvSpPr>
            <a:spLocks noGrp="1"/>
          </p:cNvSpPr>
          <p:nvPr>
            <p:ph idx="1"/>
          </p:nvPr>
        </p:nvSpPr>
        <p:spPr>
          <a:xfrm>
            <a:off x="989045" y="1586204"/>
            <a:ext cx="6662057" cy="4497356"/>
          </a:xfrm>
        </p:spPr>
        <p:txBody>
          <a:bodyPr>
            <a:normAutofit fontScale="92500"/>
          </a:bodyPr>
          <a:lstStyle/>
          <a:p>
            <a:pPr marL="0" indent="0">
              <a:buNone/>
            </a:pPr>
            <a:r>
              <a:rPr lang="en-US" dirty="0">
                <a:latin typeface="Goudy Old Style" panose="02020502050305020303" pitchFamily="18" charset="0"/>
              </a:rPr>
              <a:t>Access to healthy and affordable food is a key determinant of public health and quality of life. In large urban regions </a:t>
            </a:r>
            <a:r>
              <a:rPr lang="en-US" dirty="0" smtClean="0">
                <a:latin typeface="Goudy Old Style" panose="02020502050305020303" pitchFamily="18" charset="0"/>
              </a:rPr>
              <a:t>of </a:t>
            </a:r>
            <a:r>
              <a:rPr lang="en-US" dirty="0">
                <a:latin typeface="Goudy Old Style" panose="02020502050305020303" pitchFamily="18" charset="0"/>
              </a:rPr>
              <a:t>Cook County, many low-income neighborhoods face limited access to full-service </a:t>
            </a:r>
            <a:r>
              <a:rPr lang="en-US" dirty="0" smtClean="0">
                <a:latin typeface="Goudy Old Style" panose="02020502050305020303" pitchFamily="18" charset="0"/>
              </a:rPr>
              <a:t>grocery stores, </a:t>
            </a:r>
            <a:r>
              <a:rPr lang="en-US" dirty="0">
                <a:latin typeface="Goudy Old Style" panose="02020502050305020303" pitchFamily="18" charset="0"/>
              </a:rPr>
              <a:t>creating food deserts that contribute to long-term health disparities. Limited food access is associated </a:t>
            </a:r>
            <a:r>
              <a:rPr lang="en-US" dirty="0" smtClean="0">
                <a:latin typeface="Goudy Old Style" panose="02020502050305020303" pitchFamily="18" charset="0"/>
              </a:rPr>
              <a:t>to high </a:t>
            </a:r>
            <a:r>
              <a:rPr lang="en-US" dirty="0">
                <a:latin typeface="Goudy Old Style" panose="02020502050305020303" pitchFamily="18" charset="0"/>
              </a:rPr>
              <a:t>rates of </a:t>
            </a:r>
            <a:r>
              <a:rPr lang="en-US" dirty="0" smtClean="0">
                <a:latin typeface="Goudy Old Style" panose="02020502050305020303" pitchFamily="18" charset="0"/>
              </a:rPr>
              <a:t>diet - related </a:t>
            </a:r>
            <a:r>
              <a:rPr lang="en-US" dirty="0">
                <a:latin typeface="Goudy Old Style" panose="02020502050305020303" pitchFamily="18" charset="0"/>
              </a:rPr>
              <a:t>diseases such </a:t>
            </a:r>
            <a:r>
              <a:rPr lang="en-US" dirty="0" smtClean="0">
                <a:latin typeface="Goudy Old Style" panose="02020502050305020303" pitchFamily="18" charset="0"/>
              </a:rPr>
              <a:t>as diabetes or </a:t>
            </a:r>
            <a:r>
              <a:rPr lang="en-US" dirty="0">
                <a:latin typeface="Goudy Old Style" panose="02020502050305020303" pitchFamily="18" charset="0"/>
              </a:rPr>
              <a:t>heart disease. This project uses GIS spatial analysis to assess food access inequities </a:t>
            </a:r>
            <a:r>
              <a:rPr lang="en-US" dirty="0" smtClean="0">
                <a:latin typeface="Goudy Old Style" panose="02020502050305020303" pitchFamily="18" charset="0"/>
              </a:rPr>
              <a:t>across the </a:t>
            </a:r>
            <a:r>
              <a:rPr lang="en-US" dirty="0">
                <a:latin typeface="Goudy Old Style" panose="02020502050305020303" pitchFamily="18" charset="0"/>
              </a:rPr>
              <a:t>County, identifying which communities are </a:t>
            </a:r>
            <a:r>
              <a:rPr lang="en-US" dirty="0" smtClean="0">
                <a:latin typeface="Goudy Old Style" panose="02020502050305020303" pitchFamily="18" charset="0"/>
              </a:rPr>
              <a:t>mostly </a:t>
            </a:r>
            <a:r>
              <a:rPr lang="en-US" dirty="0">
                <a:latin typeface="Goudy Old Style" panose="02020502050305020303" pitchFamily="18" charset="0"/>
              </a:rPr>
              <a:t>affected by limited supermarket access.</a:t>
            </a:r>
          </a:p>
        </p:txBody>
      </p:sp>
      <p:pic>
        <p:nvPicPr>
          <p:cNvPr id="2050" name="Picture 2" descr="Food Insecurity Vector, Sticker Clipart Cardboard Box Full Of Fruits  Cartoon, Sticker, Clipart PNG and Vector with Transparent Background for  Free Downloa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90858" y="1166328"/>
            <a:ext cx="2696862" cy="3573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074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oudy Old Style" panose="02020502050305020303" pitchFamily="18" charset="0"/>
              </a:rPr>
              <a:t>Research Question !</a:t>
            </a:r>
            <a:endParaRPr lang="en-US" dirty="0">
              <a:latin typeface="Goudy Old Style" panose="02020502050305020303" pitchFamily="18" charset="0"/>
            </a:endParaRPr>
          </a:p>
        </p:txBody>
      </p:sp>
      <p:sp>
        <p:nvSpPr>
          <p:cNvPr id="3" name="Content Placeholder 2"/>
          <p:cNvSpPr>
            <a:spLocks noGrp="1"/>
          </p:cNvSpPr>
          <p:nvPr>
            <p:ph idx="1"/>
          </p:nvPr>
        </p:nvSpPr>
        <p:spPr>
          <a:xfrm>
            <a:off x="838199" y="1825625"/>
            <a:ext cx="7372740" cy="4351338"/>
          </a:xfrm>
        </p:spPr>
        <p:txBody>
          <a:bodyPr>
            <a:normAutofit fontScale="92500" lnSpcReduction="10000"/>
          </a:bodyPr>
          <a:lstStyle/>
          <a:p>
            <a:r>
              <a:rPr lang="en-US" dirty="0">
                <a:latin typeface="Goudy Old Style" panose="02020502050305020303" pitchFamily="18" charset="0"/>
              </a:rPr>
              <a:t>This project investigates food access disparities </a:t>
            </a:r>
            <a:r>
              <a:rPr lang="en-US" dirty="0" smtClean="0">
                <a:latin typeface="Goudy Old Style" panose="02020502050305020303" pitchFamily="18" charset="0"/>
              </a:rPr>
              <a:t>around </a:t>
            </a:r>
            <a:r>
              <a:rPr lang="en-US" dirty="0">
                <a:latin typeface="Goudy Old Style" panose="02020502050305020303" pitchFamily="18" charset="0"/>
              </a:rPr>
              <a:t>Cook County by answering two related research </a:t>
            </a:r>
            <a:r>
              <a:rPr lang="en-US" dirty="0" smtClean="0">
                <a:latin typeface="Goudy Old Style" panose="02020502050305020303" pitchFamily="18" charset="0"/>
              </a:rPr>
              <a:t>questions that I proposed:</a:t>
            </a:r>
          </a:p>
          <a:p>
            <a:r>
              <a:rPr lang="en-US" dirty="0" smtClean="0">
                <a:latin typeface="Goudy Old Style" panose="02020502050305020303" pitchFamily="18" charset="0"/>
              </a:rPr>
              <a:t>How </a:t>
            </a:r>
            <a:r>
              <a:rPr lang="en-US" dirty="0">
                <a:latin typeface="Goudy Old Style" panose="02020502050305020303" pitchFamily="18" charset="0"/>
              </a:rPr>
              <a:t>many residents in each community area live within 0.5 miles of a supermarket</a:t>
            </a:r>
            <a:r>
              <a:rPr lang="en-US" dirty="0" smtClean="0">
                <a:latin typeface="Goudy Old Style" panose="02020502050305020303" pitchFamily="18" charset="0"/>
              </a:rPr>
              <a:t>?</a:t>
            </a:r>
          </a:p>
          <a:p>
            <a:r>
              <a:rPr lang="en-US" dirty="0" smtClean="0">
                <a:latin typeface="Goudy Old Style" panose="02020502050305020303" pitchFamily="18" charset="0"/>
              </a:rPr>
              <a:t>Which </a:t>
            </a:r>
            <a:r>
              <a:rPr lang="en-US" dirty="0">
                <a:latin typeface="Goudy Old Style" panose="02020502050305020303" pitchFamily="18" charset="0"/>
              </a:rPr>
              <a:t>communities with higher social vulnerability and poverty experience the lowest food access coverage</a:t>
            </a:r>
            <a:r>
              <a:rPr lang="en-US" dirty="0" smtClean="0">
                <a:latin typeface="Goudy Old Style" panose="02020502050305020303" pitchFamily="18" charset="0"/>
              </a:rPr>
              <a:t>?</a:t>
            </a:r>
          </a:p>
          <a:p>
            <a:r>
              <a:rPr lang="en-US" dirty="0" smtClean="0">
                <a:latin typeface="Goudy Old Style" panose="02020502050305020303" pitchFamily="18" charset="0"/>
              </a:rPr>
              <a:t>GIS </a:t>
            </a:r>
            <a:r>
              <a:rPr lang="en-US" dirty="0">
                <a:latin typeface="Goudy Old Style" panose="02020502050305020303" pitchFamily="18" charset="0"/>
              </a:rPr>
              <a:t>spatial analysis was used to create service area buffers, calculate percent coverage, and integrate health equity </a:t>
            </a:r>
            <a:r>
              <a:rPr lang="en-US" dirty="0" smtClean="0">
                <a:latin typeface="Goudy Old Style" panose="02020502050305020303" pitchFamily="18" charset="0"/>
              </a:rPr>
              <a:t>indicators for these to be answered.</a:t>
            </a:r>
            <a:endParaRPr lang="en-US" dirty="0">
              <a:latin typeface="Goudy Old Style" panose="02020502050305020303" pitchFamily="18" charset="0"/>
            </a:endParaRPr>
          </a:p>
        </p:txBody>
      </p:sp>
      <p:pic>
        <p:nvPicPr>
          <p:cNvPr id="3074" name="Picture 2" descr="260+ Newspaper Delivery Illustration Stock Illustrations, Royalty-Free  Vector Graphic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0106" y="1961277"/>
            <a:ext cx="3335952" cy="3292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246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oudy Old Style" panose="02020502050305020303" pitchFamily="18" charset="0"/>
              </a:rPr>
              <a:t>Data Sources</a:t>
            </a:r>
            <a:endParaRPr lang="en-US" dirty="0">
              <a:latin typeface="Goudy Old Style" panose="02020502050305020303"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37624716"/>
              </p:ext>
            </p:extLst>
          </p:nvPr>
        </p:nvGraphicFramePr>
        <p:xfrm>
          <a:off x="578497" y="1769641"/>
          <a:ext cx="7660433" cy="3548810"/>
        </p:xfrm>
        <a:graphic>
          <a:graphicData uri="http://schemas.openxmlformats.org/drawingml/2006/table">
            <a:tbl>
              <a:tblPr firstRow="1" bandRow="1">
                <a:tableStyleId>{7E9639D4-E3E2-4D34-9284-5A2195B3D0D7}</a:tableStyleId>
              </a:tblPr>
              <a:tblGrid>
                <a:gridCol w="4298743">
                  <a:extLst>
                    <a:ext uri="{9D8B030D-6E8A-4147-A177-3AD203B41FA5}">
                      <a16:colId xmlns:a16="http://schemas.microsoft.com/office/drawing/2014/main" val="3945854095"/>
                    </a:ext>
                  </a:extLst>
                </a:gridCol>
                <a:gridCol w="3361690">
                  <a:extLst>
                    <a:ext uri="{9D8B030D-6E8A-4147-A177-3AD203B41FA5}">
                      <a16:colId xmlns:a16="http://schemas.microsoft.com/office/drawing/2014/main" val="798124787"/>
                    </a:ext>
                  </a:extLst>
                </a:gridCol>
              </a:tblGrid>
              <a:tr h="709762">
                <a:tc>
                  <a:txBody>
                    <a:bodyPr/>
                    <a:lstStyle/>
                    <a:p>
                      <a:r>
                        <a:rPr lang="en-US" dirty="0" smtClean="0"/>
                        <a:t>Dataset</a:t>
                      </a:r>
                      <a:endParaRPr lang="en-US" dirty="0"/>
                    </a:p>
                  </a:txBody>
                  <a:tcPr/>
                </a:tc>
                <a:tc>
                  <a:txBody>
                    <a:bodyPr/>
                    <a:lstStyle/>
                    <a:p>
                      <a:r>
                        <a:rPr lang="en-US" dirty="0" smtClean="0"/>
                        <a:t>Source</a:t>
                      </a:r>
                      <a:endParaRPr lang="en-US" dirty="0"/>
                    </a:p>
                  </a:txBody>
                  <a:tcPr/>
                </a:tc>
                <a:extLst>
                  <a:ext uri="{0D108BD9-81ED-4DB2-BD59-A6C34878D82A}">
                    <a16:rowId xmlns:a16="http://schemas.microsoft.com/office/drawing/2014/main" val="723482693"/>
                  </a:ext>
                </a:extLst>
              </a:tr>
              <a:tr h="709762">
                <a:tc>
                  <a:txBody>
                    <a:bodyPr/>
                    <a:lstStyle/>
                    <a:p>
                      <a:r>
                        <a:rPr lang="en-US" dirty="0" smtClean="0"/>
                        <a:t>Community Area Shapefile</a:t>
                      </a:r>
                      <a:endParaRPr lang="en-US" dirty="0"/>
                    </a:p>
                  </a:txBody>
                  <a:tcPr/>
                </a:tc>
                <a:tc>
                  <a:txBody>
                    <a:bodyPr/>
                    <a:lstStyle/>
                    <a:p>
                      <a:r>
                        <a:rPr lang="en-US" dirty="0" smtClean="0"/>
                        <a:t>Chicago Data</a:t>
                      </a:r>
                      <a:r>
                        <a:rPr lang="en-US" baseline="0" dirty="0" smtClean="0"/>
                        <a:t> Portal</a:t>
                      </a:r>
                      <a:endParaRPr lang="en-US" dirty="0"/>
                    </a:p>
                  </a:txBody>
                  <a:tcPr/>
                </a:tc>
                <a:extLst>
                  <a:ext uri="{0D108BD9-81ED-4DB2-BD59-A6C34878D82A}">
                    <a16:rowId xmlns:a16="http://schemas.microsoft.com/office/drawing/2014/main" val="235020380"/>
                  </a:ext>
                </a:extLst>
              </a:tr>
              <a:tr h="709762">
                <a:tc>
                  <a:txBody>
                    <a:bodyPr/>
                    <a:lstStyle/>
                    <a:p>
                      <a:r>
                        <a:rPr lang="en-US" dirty="0" smtClean="0"/>
                        <a:t>Supermarket</a:t>
                      </a:r>
                      <a:r>
                        <a:rPr lang="en-US" baseline="0" dirty="0" smtClean="0"/>
                        <a:t> data</a:t>
                      </a:r>
                      <a:endParaRPr lang="en-US" dirty="0"/>
                    </a:p>
                  </a:txBody>
                  <a:tcPr/>
                </a:tc>
                <a:tc>
                  <a:txBody>
                    <a:bodyPr/>
                    <a:lstStyle/>
                    <a:p>
                      <a:r>
                        <a:rPr lang="en-US" dirty="0" smtClean="0"/>
                        <a:t>City</a:t>
                      </a:r>
                      <a:r>
                        <a:rPr lang="en-US" baseline="0" dirty="0" smtClean="0"/>
                        <a:t> of Chicago</a:t>
                      </a:r>
                      <a:endParaRPr lang="en-US" dirty="0"/>
                    </a:p>
                  </a:txBody>
                  <a:tcPr/>
                </a:tc>
                <a:extLst>
                  <a:ext uri="{0D108BD9-81ED-4DB2-BD59-A6C34878D82A}">
                    <a16:rowId xmlns:a16="http://schemas.microsoft.com/office/drawing/2014/main" val="2092745478"/>
                  </a:ext>
                </a:extLst>
              </a:tr>
              <a:tr h="709762">
                <a:tc>
                  <a:txBody>
                    <a:bodyPr/>
                    <a:lstStyle/>
                    <a:p>
                      <a:r>
                        <a:rPr lang="en-US" dirty="0" smtClean="0"/>
                        <a:t>Roads network</a:t>
                      </a:r>
                      <a:endParaRPr lang="en-US" dirty="0"/>
                    </a:p>
                  </a:txBody>
                  <a:tcPr/>
                </a:tc>
                <a:tc>
                  <a:txBody>
                    <a:bodyPr/>
                    <a:lstStyle/>
                    <a:p>
                      <a:r>
                        <a:rPr lang="en-US" dirty="0" smtClean="0"/>
                        <a:t>US Census Bureau TIGER/Line</a:t>
                      </a:r>
                      <a:endParaRPr lang="en-US" dirty="0"/>
                    </a:p>
                  </a:txBody>
                  <a:tcPr/>
                </a:tc>
                <a:extLst>
                  <a:ext uri="{0D108BD9-81ED-4DB2-BD59-A6C34878D82A}">
                    <a16:rowId xmlns:a16="http://schemas.microsoft.com/office/drawing/2014/main" val="3911790181"/>
                  </a:ext>
                </a:extLst>
              </a:tr>
              <a:tr h="709762">
                <a:tc>
                  <a:txBody>
                    <a:bodyPr/>
                    <a:lstStyle/>
                    <a:p>
                      <a:r>
                        <a:rPr lang="en-US" dirty="0" smtClean="0"/>
                        <a:t>Health Indicators (SVI, Poverty)</a:t>
                      </a:r>
                      <a:endParaRPr lang="en-US" dirty="0"/>
                    </a:p>
                  </a:txBody>
                  <a:tcPr/>
                </a:tc>
                <a:tc>
                  <a:txBody>
                    <a:bodyPr/>
                    <a:lstStyle/>
                    <a:p>
                      <a:r>
                        <a:rPr lang="en-US" dirty="0" smtClean="0"/>
                        <a:t>Chicago Health Atlas</a:t>
                      </a:r>
                      <a:endParaRPr lang="en-US" dirty="0"/>
                    </a:p>
                  </a:txBody>
                  <a:tcPr/>
                </a:tc>
                <a:extLst>
                  <a:ext uri="{0D108BD9-81ED-4DB2-BD59-A6C34878D82A}">
                    <a16:rowId xmlns:a16="http://schemas.microsoft.com/office/drawing/2014/main" val="2227807966"/>
                  </a:ext>
                </a:extLst>
              </a:tr>
            </a:tbl>
          </a:graphicData>
        </a:graphic>
      </p:graphicFrame>
      <p:pic>
        <p:nvPicPr>
          <p:cNvPr id="4098" name="Picture 2" descr="1,700+ Cook County Illinois Map Stock Photos, Pictures &amp; Royalty-Free  Images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8097" y="1491309"/>
            <a:ext cx="3088433" cy="3088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591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oudy Old Style" panose="02020502050305020303" pitchFamily="18" charset="0"/>
              </a:rPr>
              <a:t>Methods used</a:t>
            </a:r>
            <a:endParaRPr lang="en-US" dirty="0">
              <a:latin typeface="Goudy Old Style" panose="02020502050305020303" pitchFamily="18" charset="0"/>
            </a:endParaRPr>
          </a:p>
        </p:txBody>
      </p:sp>
      <p:sp>
        <p:nvSpPr>
          <p:cNvPr id="3" name="Content Placeholder 2"/>
          <p:cNvSpPr>
            <a:spLocks noGrp="1"/>
          </p:cNvSpPr>
          <p:nvPr>
            <p:ph idx="1"/>
          </p:nvPr>
        </p:nvSpPr>
        <p:spPr>
          <a:xfrm>
            <a:off x="175726" y="1583029"/>
            <a:ext cx="8520405" cy="4351338"/>
          </a:xfrm>
        </p:spPr>
        <p:txBody>
          <a:bodyPr>
            <a:normAutofit fontScale="92500" lnSpcReduction="10000"/>
          </a:bodyPr>
          <a:lstStyle/>
          <a:p>
            <a:r>
              <a:rPr lang="en-US" dirty="0">
                <a:latin typeface="Goudy Old Style" panose="02020502050305020303" pitchFamily="18" charset="0"/>
              </a:rPr>
              <a:t>Created </a:t>
            </a:r>
            <a:r>
              <a:rPr lang="en-US" dirty="0" smtClean="0">
                <a:latin typeface="Goudy Old Style" panose="02020502050305020303" pitchFamily="18" charset="0"/>
              </a:rPr>
              <a:t>0.5 mile </a:t>
            </a:r>
            <a:r>
              <a:rPr lang="en-US" dirty="0">
                <a:latin typeface="Goudy Old Style" panose="02020502050305020303" pitchFamily="18" charset="0"/>
              </a:rPr>
              <a:t>service area buffers around supermarket </a:t>
            </a:r>
            <a:r>
              <a:rPr lang="en-US" dirty="0" smtClean="0">
                <a:latin typeface="Goudy Old Style" panose="02020502050305020303" pitchFamily="18" charset="0"/>
              </a:rPr>
              <a:t>locations.</a:t>
            </a:r>
            <a:endParaRPr lang="en-US" dirty="0">
              <a:latin typeface="Goudy Old Style" panose="02020502050305020303" pitchFamily="18" charset="0"/>
            </a:endParaRPr>
          </a:p>
          <a:p>
            <a:r>
              <a:rPr lang="en-US" dirty="0">
                <a:latin typeface="Goudy Old Style" panose="02020502050305020303" pitchFamily="18" charset="0"/>
              </a:rPr>
              <a:t>Performed spatial </a:t>
            </a:r>
            <a:r>
              <a:rPr lang="en-US" dirty="0" smtClean="0">
                <a:latin typeface="Goudy Old Style" panose="02020502050305020303" pitchFamily="18" charset="0"/>
              </a:rPr>
              <a:t>intersections </a:t>
            </a:r>
            <a:r>
              <a:rPr lang="en-US" dirty="0">
                <a:latin typeface="Goudy Old Style" panose="02020502050305020303" pitchFamily="18" charset="0"/>
              </a:rPr>
              <a:t>with community area </a:t>
            </a:r>
            <a:r>
              <a:rPr lang="en-US" dirty="0" smtClean="0">
                <a:latin typeface="Goudy Old Style" panose="02020502050305020303" pitchFamily="18" charset="0"/>
              </a:rPr>
              <a:t>boundaries.</a:t>
            </a:r>
            <a:endParaRPr lang="en-US" dirty="0">
              <a:latin typeface="Goudy Old Style" panose="02020502050305020303" pitchFamily="18" charset="0"/>
            </a:endParaRPr>
          </a:p>
          <a:p>
            <a:r>
              <a:rPr lang="en-US" dirty="0">
                <a:latin typeface="Goudy Old Style" panose="02020502050305020303" pitchFamily="18" charset="0"/>
              </a:rPr>
              <a:t>Calculated </a:t>
            </a:r>
            <a:r>
              <a:rPr lang="en-US" dirty="0" smtClean="0">
                <a:latin typeface="Goudy Old Style" panose="02020502050305020303" pitchFamily="18" charset="0"/>
              </a:rPr>
              <a:t>the area </a:t>
            </a:r>
            <a:r>
              <a:rPr lang="en-US" dirty="0">
                <a:latin typeface="Goudy Old Style" panose="02020502050305020303" pitchFamily="18" charset="0"/>
              </a:rPr>
              <a:t>coverage (%) for each community </a:t>
            </a:r>
            <a:r>
              <a:rPr lang="en-US" dirty="0" smtClean="0">
                <a:latin typeface="Goudy Old Style" panose="02020502050305020303" pitchFamily="18" charset="0"/>
              </a:rPr>
              <a:t>area.</a:t>
            </a:r>
            <a:endParaRPr lang="en-US" dirty="0">
              <a:latin typeface="Goudy Old Style" panose="02020502050305020303" pitchFamily="18" charset="0"/>
            </a:endParaRPr>
          </a:p>
          <a:p>
            <a:r>
              <a:rPr lang="en-US" dirty="0">
                <a:latin typeface="Goudy Old Style" panose="02020502050305020303" pitchFamily="18" charset="0"/>
              </a:rPr>
              <a:t>Joined Chicago Health Atlas data (SVI, </a:t>
            </a:r>
            <a:r>
              <a:rPr lang="en-US" dirty="0" smtClean="0">
                <a:latin typeface="Goudy Old Style" panose="02020502050305020303" pitchFamily="18" charset="0"/>
              </a:rPr>
              <a:t>Poverty and </a:t>
            </a:r>
            <a:r>
              <a:rPr lang="en-US" dirty="0">
                <a:latin typeface="Goudy Old Style" panose="02020502050305020303" pitchFamily="18" charset="0"/>
              </a:rPr>
              <a:t>Fruit/Veg Access</a:t>
            </a:r>
            <a:r>
              <a:rPr lang="en-US" dirty="0" smtClean="0">
                <a:latin typeface="Goudy Old Style" panose="02020502050305020303" pitchFamily="18" charset="0"/>
              </a:rPr>
              <a:t>).</a:t>
            </a:r>
            <a:endParaRPr lang="en-US" dirty="0">
              <a:latin typeface="Goudy Old Style" panose="02020502050305020303" pitchFamily="18" charset="0"/>
            </a:endParaRPr>
          </a:p>
          <a:p>
            <a:r>
              <a:rPr lang="en-US" dirty="0">
                <a:latin typeface="Goudy Old Style" panose="02020502050305020303" pitchFamily="18" charset="0"/>
              </a:rPr>
              <a:t>Conducted attribute joins, field </a:t>
            </a:r>
            <a:r>
              <a:rPr lang="en-US" dirty="0" smtClean="0">
                <a:latin typeface="Goudy Old Style" panose="02020502050305020303" pitchFamily="18" charset="0"/>
              </a:rPr>
              <a:t>calculations </a:t>
            </a:r>
            <a:r>
              <a:rPr lang="en-US" dirty="0">
                <a:latin typeface="Goudy Old Style" panose="02020502050305020303" pitchFamily="18" charset="0"/>
              </a:rPr>
              <a:t>and map </a:t>
            </a:r>
            <a:r>
              <a:rPr lang="en-US" dirty="0" smtClean="0">
                <a:latin typeface="Goudy Old Style" panose="02020502050305020303" pitchFamily="18" charset="0"/>
              </a:rPr>
              <a:t>visualizations.</a:t>
            </a:r>
            <a:endParaRPr lang="en-US" dirty="0">
              <a:latin typeface="Goudy Old Style" panose="02020502050305020303" pitchFamily="18" charset="0"/>
            </a:endParaRPr>
          </a:p>
          <a:p>
            <a:r>
              <a:rPr lang="en-US" dirty="0" smtClean="0">
                <a:latin typeface="Goudy Old Style" panose="02020502050305020303" pitchFamily="18" charset="0"/>
              </a:rPr>
              <a:t>Tools used so far : </a:t>
            </a:r>
            <a:r>
              <a:rPr lang="en-US" dirty="0">
                <a:latin typeface="Goudy Old Style" panose="02020502050305020303" pitchFamily="18" charset="0"/>
              </a:rPr>
              <a:t>ArcGIS Pro (Buffer, Intersect, Join Field, Field Calculator, </a:t>
            </a:r>
            <a:r>
              <a:rPr lang="en-US" dirty="0" err="1">
                <a:latin typeface="Goudy Old Style" panose="02020502050305020303" pitchFamily="18" charset="0"/>
              </a:rPr>
              <a:t>Symbology</a:t>
            </a:r>
            <a:r>
              <a:rPr lang="en-US" dirty="0" smtClean="0">
                <a:latin typeface="Goudy Old Style" panose="02020502050305020303" pitchFamily="18" charset="0"/>
              </a:rPr>
              <a:t>) and </a:t>
            </a:r>
            <a:r>
              <a:rPr lang="en-US" dirty="0" err="1" smtClean="0">
                <a:latin typeface="Goudy Old Style" panose="02020502050305020303" pitchFamily="18" charset="0"/>
              </a:rPr>
              <a:t>Rstudio</a:t>
            </a:r>
            <a:r>
              <a:rPr lang="en-US" dirty="0" smtClean="0">
                <a:latin typeface="Goudy Old Style" panose="02020502050305020303" pitchFamily="18" charset="0"/>
              </a:rPr>
              <a:t>.</a:t>
            </a:r>
            <a:endParaRPr lang="en-US" dirty="0">
              <a:latin typeface="Goudy Old Style" panose="02020502050305020303" pitchFamily="18" charset="0"/>
            </a:endParaRPr>
          </a:p>
          <a:p>
            <a:endParaRPr lang="en-US" dirty="0">
              <a:latin typeface="Goudy Old Style" panose="02020502050305020303" pitchFamily="18" charset="0"/>
            </a:endParaRPr>
          </a:p>
        </p:txBody>
      </p:sp>
      <p:pic>
        <p:nvPicPr>
          <p:cNvPr id="4" name="Picture 3"/>
          <p:cNvPicPr>
            <a:picLocks noChangeAspect="1"/>
          </p:cNvPicPr>
          <p:nvPr/>
        </p:nvPicPr>
        <p:blipFill rotWithShape="1">
          <a:blip r:embed="rId2"/>
          <a:srcRect l="14128" t="10724" r="35998" b="7739"/>
          <a:stretch/>
        </p:blipFill>
        <p:spPr>
          <a:xfrm>
            <a:off x="8981097" y="1811986"/>
            <a:ext cx="2952757" cy="3179891"/>
          </a:xfrm>
          <a:prstGeom prst="rect">
            <a:avLst/>
          </a:prstGeom>
        </p:spPr>
      </p:pic>
    </p:spTree>
    <p:extLst>
      <p:ext uri="{BB962C8B-B14F-4D97-AF65-F5344CB8AC3E}">
        <p14:creationId xmlns:p14="http://schemas.microsoft.com/office/powerpoint/2010/main" val="2518569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oudy Old Style" panose="02020502050305020303" pitchFamily="18" charset="0"/>
              </a:rPr>
              <a:t>Food Access Coverage : % Community Area within 0.5 miles of Supermarkets.</a:t>
            </a:r>
            <a:endParaRPr lang="en-US" dirty="0">
              <a:latin typeface="Goudy Old Style" panose="02020502050305020303" pitchFamily="18" charset="0"/>
            </a:endParaRPr>
          </a:p>
        </p:txBody>
      </p:sp>
      <p:pic>
        <p:nvPicPr>
          <p:cNvPr id="4" name="Content Placeholder 3"/>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21113" t="2003" r="11614" b="2147"/>
          <a:stretch/>
        </p:blipFill>
        <p:spPr>
          <a:xfrm>
            <a:off x="7156174" y="1611175"/>
            <a:ext cx="4631635" cy="5099362"/>
          </a:xfrm>
        </p:spPr>
      </p:pic>
      <p:sp>
        <p:nvSpPr>
          <p:cNvPr id="5" name="TextBox 4"/>
          <p:cNvSpPr txBox="1"/>
          <p:nvPr/>
        </p:nvSpPr>
        <p:spPr>
          <a:xfrm>
            <a:off x="838200" y="2400119"/>
            <a:ext cx="5585791" cy="1200329"/>
          </a:xfrm>
          <a:prstGeom prst="rect">
            <a:avLst/>
          </a:prstGeom>
          <a:noFill/>
        </p:spPr>
        <p:txBody>
          <a:bodyPr wrap="square" rtlCol="0">
            <a:spAutoFit/>
          </a:bodyPr>
          <a:lstStyle/>
          <a:p>
            <a:r>
              <a:rPr lang="en-US" sz="2400" dirty="0" smtClean="0">
                <a:latin typeface="Goudy Old Style" panose="02020502050305020303" pitchFamily="18" charset="0"/>
              </a:rPr>
              <a:t>Most Northern areas in the community show higher access as compared to Southern or Western community areas.</a:t>
            </a:r>
            <a:endParaRPr lang="en-US" sz="2400" dirty="0">
              <a:latin typeface="Goudy Old Style" panose="02020502050305020303" pitchFamily="18" charset="0"/>
            </a:endParaRPr>
          </a:p>
        </p:txBody>
      </p:sp>
      <p:sp>
        <p:nvSpPr>
          <p:cNvPr id="6" name="TextBox 5"/>
          <p:cNvSpPr txBox="1"/>
          <p:nvPr/>
        </p:nvSpPr>
        <p:spPr>
          <a:xfrm>
            <a:off x="1967948" y="4661452"/>
            <a:ext cx="3904723" cy="369332"/>
          </a:xfrm>
          <a:prstGeom prst="rect">
            <a:avLst/>
          </a:prstGeom>
          <a:noFill/>
        </p:spPr>
        <p:txBody>
          <a:bodyPr wrap="none" rtlCol="0">
            <a:spAutoFit/>
          </a:bodyPr>
          <a:lstStyle/>
          <a:p>
            <a:r>
              <a:rPr lang="en-US" dirty="0" smtClean="0"/>
              <a:t>(</a:t>
            </a:r>
            <a:r>
              <a:rPr lang="en-US" dirty="0" err="1" smtClean="0"/>
              <a:t>Pctage_covered</a:t>
            </a:r>
            <a:r>
              <a:rPr lang="en-US" dirty="0" smtClean="0"/>
              <a:t> = Percentage Covered)</a:t>
            </a:r>
            <a:endParaRPr lang="en-US" dirty="0"/>
          </a:p>
        </p:txBody>
      </p:sp>
    </p:spTree>
    <p:extLst>
      <p:ext uri="{BB962C8B-B14F-4D97-AF65-F5344CB8AC3E}">
        <p14:creationId xmlns:p14="http://schemas.microsoft.com/office/powerpoint/2010/main" val="299745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oudy Old Style" panose="02020502050305020303" pitchFamily="18" charset="0"/>
              </a:rPr>
              <a:t>Social Vulnerability Index (SVI 2022)</a:t>
            </a:r>
            <a:endParaRPr lang="en-US" dirty="0">
              <a:latin typeface="Goudy Old Style" panose="02020502050305020303" pitchFamily="18" charset="0"/>
            </a:endParaRP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25661" t="20144" r="23048" b="14493"/>
          <a:stretch/>
        </p:blipFill>
        <p:spPr>
          <a:xfrm>
            <a:off x="6801679" y="1690688"/>
            <a:ext cx="4552121" cy="4482549"/>
          </a:xfrm>
          <a:prstGeom prst="rect">
            <a:avLst/>
          </a:prstGeom>
        </p:spPr>
      </p:pic>
      <p:sp>
        <p:nvSpPr>
          <p:cNvPr id="5" name="TextBox 4"/>
          <p:cNvSpPr txBox="1"/>
          <p:nvPr/>
        </p:nvSpPr>
        <p:spPr>
          <a:xfrm>
            <a:off x="838200" y="2661023"/>
            <a:ext cx="4790661" cy="1938992"/>
          </a:xfrm>
          <a:prstGeom prst="rect">
            <a:avLst/>
          </a:prstGeom>
          <a:noFill/>
        </p:spPr>
        <p:txBody>
          <a:bodyPr wrap="square" rtlCol="0">
            <a:spAutoFit/>
          </a:bodyPr>
          <a:lstStyle/>
          <a:p>
            <a:r>
              <a:rPr lang="en-US" sz="2400" dirty="0" smtClean="0">
                <a:latin typeface="Goudy Old Style" panose="02020502050305020303" pitchFamily="18" charset="0"/>
              </a:rPr>
              <a:t>Areas with higher social vulnerability are concentrated in the southern and western portions of Cook County, overlapping with areas of reduced food access.</a:t>
            </a:r>
            <a:endParaRPr lang="en-US" sz="2400" dirty="0">
              <a:latin typeface="Goudy Old Style" panose="02020502050305020303" pitchFamily="18" charset="0"/>
            </a:endParaRPr>
          </a:p>
        </p:txBody>
      </p:sp>
    </p:spTree>
    <p:extLst>
      <p:ext uri="{BB962C8B-B14F-4D97-AF65-F5344CB8AC3E}">
        <p14:creationId xmlns:p14="http://schemas.microsoft.com/office/powerpoint/2010/main" val="231647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oudy Old Style" panose="02020502050305020303" pitchFamily="18" charset="0"/>
              </a:rPr>
              <a:t>Poverty Rate </a:t>
            </a:r>
            <a:endParaRPr lang="en-US" dirty="0">
              <a:latin typeface="Goudy Old Style" panose="02020502050305020303" pitchFamily="18" charset="0"/>
            </a:endParaRP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23422" t="23044" r="24839" b="9420"/>
          <a:stretch/>
        </p:blipFill>
        <p:spPr>
          <a:xfrm>
            <a:off x="7305261" y="1490870"/>
            <a:ext cx="4591878" cy="4631635"/>
          </a:xfrm>
          <a:prstGeom prst="rect">
            <a:avLst/>
          </a:prstGeom>
        </p:spPr>
      </p:pic>
      <p:sp>
        <p:nvSpPr>
          <p:cNvPr id="5" name="TextBox 4"/>
          <p:cNvSpPr txBox="1"/>
          <p:nvPr/>
        </p:nvSpPr>
        <p:spPr>
          <a:xfrm>
            <a:off x="1311964" y="3041374"/>
            <a:ext cx="4750905" cy="830997"/>
          </a:xfrm>
          <a:prstGeom prst="rect">
            <a:avLst/>
          </a:prstGeom>
          <a:noFill/>
        </p:spPr>
        <p:txBody>
          <a:bodyPr wrap="square" rtlCol="0">
            <a:spAutoFit/>
          </a:bodyPr>
          <a:lstStyle/>
          <a:p>
            <a:r>
              <a:rPr lang="en-US" sz="2400" dirty="0" smtClean="0">
                <a:latin typeface="Goudy Old Style" panose="02020502050305020303" pitchFamily="18" charset="0"/>
              </a:rPr>
              <a:t>Higher poverty rates are concentrated in south and west Cook County.</a:t>
            </a:r>
            <a:endParaRPr lang="en-US" sz="2400" dirty="0">
              <a:latin typeface="Goudy Old Style" panose="02020502050305020303" pitchFamily="18" charset="0"/>
            </a:endParaRPr>
          </a:p>
        </p:txBody>
      </p:sp>
      <p:sp>
        <p:nvSpPr>
          <p:cNvPr id="6" name="TextBox 5"/>
          <p:cNvSpPr txBox="1"/>
          <p:nvPr/>
        </p:nvSpPr>
        <p:spPr>
          <a:xfrm>
            <a:off x="1938130" y="4671390"/>
            <a:ext cx="3054747" cy="369332"/>
          </a:xfrm>
          <a:prstGeom prst="rect">
            <a:avLst/>
          </a:prstGeom>
          <a:noFill/>
        </p:spPr>
        <p:txBody>
          <a:bodyPr wrap="none" rtlCol="0">
            <a:spAutoFit/>
          </a:bodyPr>
          <a:lstStyle/>
          <a:p>
            <a:r>
              <a:rPr lang="en-US" dirty="0" smtClean="0"/>
              <a:t>POV 2019-2023 = Poverty Rate</a:t>
            </a:r>
            <a:endParaRPr lang="en-US" dirty="0"/>
          </a:p>
        </p:txBody>
      </p:sp>
    </p:spTree>
    <p:extLst>
      <p:ext uri="{BB962C8B-B14F-4D97-AF65-F5344CB8AC3E}">
        <p14:creationId xmlns:p14="http://schemas.microsoft.com/office/powerpoint/2010/main" val="2032418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oudy Old Style" panose="02020502050305020303" pitchFamily="18" charset="0"/>
              </a:rPr>
              <a:t>Summary Results</a:t>
            </a:r>
            <a:endParaRPr lang="en-US" dirty="0">
              <a:latin typeface="Goudy Old Style" panose="02020502050305020303" pitchFamily="18" charset="0"/>
            </a:endParaRPr>
          </a:p>
        </p:txBody>
      </p:sp>
      <p:sp>
        <p:nvSpPr>
          <p:cNvPr id="5" name="TextBox 4"/>
          <p:cNvSpPr txBox="1"/>
          <p:nvPr/>
        </p:nvSpPr>
        <p:spPr>
          <a:xfrm>
            <a:off x="838200" y="2623930"/>
            <a:ext cx="7421217" cy="2308324"/>
          </a:xfrm>
          <a:prstGeom prst="rect">
            <a:avLst/>
          </a:prstGeom>
          <a:noFill/>
        </p:spPr>
        <p:txBody>
          <a:bodyPr wrap="square" rtlCol="0">
            <a:spAutoFit/>
          </a:bodyPr>
          <a:lstStyle/>
          <a:p>
            <a:r>
              <a:rPr lang="en-US" sz="2400" dirty="0" smtClean="0">
                <a:latin typeface="Goudy Old Style" panose="02020502050305020303" pitchFamily="18" charset="0"/>
              </a:rPr>
              <a:t>All detailed results, including percent supermarket access, Social Vulnerability Index, poverty rates and fruit/vegetable access for each community area are provided in the attached analysis table (FoodAccessFinalTable.csv). This table supports the map findings and will assist in future policy planning.</a:t>
            </a:r>
            <a:endParaRPr lang="en-US" sz="2400" dirty="0">
              <a:latin typeface="Goudy Old Style" panose="02020502050305020303" pitchFamily="18" charset="0"/>
            </a:endParaRPr>
          </a:p>
        </p:txBody>
      </p:sp>
      <p:sp>
        <p:nvSpPr>
          <p:cNvPr id="6" name="AutoShape 2" descr="Doodle Assessment Result Graphic by GwensGraphicstudio · Creative Fabrica"/>
          <p:cNvSpPr>
            <a:spLocks noChangeAspect="1" noChangeArrowheads="1"/>
          </p:cNvSpPr>
          <p:nvPr/>
        </p:nvSpPr>
        <p:spPr bwMode="auto">
          <a:xfrm>
            <a:off x="9538114" y="1792873"/>
            <a:ext cx="2381554" cy="238156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8" name="Picture 8" descr="Clipboard contract results checklist page list paper and document business  line doodle drawings vector illustration | Premium Ve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4149" y="1618937"/>
            <a:ext cx="3429000" cy="3429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3629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oudy Old Style" panose="02020502050305020303" pitchFamily="18" charset="0"/>
              </a:rPr>
              <a:t>Discussion and Key Takeaways</a:t>
            </a:r>
            <a:endParaRPr lang="en-US" dirty="0">
              <a:latin typeface="Goudy Old Style" panose="02020502050305020303" pitchFamily="18" charset="0"/>
            </a:endParaRPr>
          </a:p>
        </p:txBody>
      </p:sp>
      <p:sp>
        <p:nvSpPr>
          <p:cNvPr id="3" name="Content Placeholder 2"/>
          <p:cNvSpPr>
            <a:spLocks noGrp="1"/>
          </p:cNvSpPr>
          <p:nvPr>
            <p:ph idx="1"/>
          </p:nvPr>
        </p:nvSpPr>
        <p:spPr>
          <a:xfrm>
            <a:off x="838200" y="1825625"/>
            <a:ext cx="6954078" cy="4351338"/>
          </a:xfrm>
        </p:spPr>
        <p:txBody>
          <a:bodyPr>
            <a:normAutofit fontScale="92500" lnSpcReduction="10000"/>
          </a:bodyPr>
          <a:lstStyle/>
          <a:p>
            <a:pPr marL="0" indent="0">
              <a:buNone/>
            </a:pPr>
            <a:r>
              <a:rPr lang="en-US" dirty="0">
                <a:latin typeface="Goudy Old Style" panose="02020502050305020303" pitchFamily="18" charset="0"/>
              </a:rPr>
              <a:t>The GIS analysis </a:t>
            </a:r>
            <a:r>
              <a:rPr lang="en-US" dirty="0" smtClean="0">
                <a:latin typeface="Goudy Old Style" panose="02020502050305020303" pitchFamily="18" charset="0"/>
              </a:rPr>
              <a:t>reveals </a:t>
            </a:r>
            <a:r>
              <a:rPr lang="en-US" dirty="0">
                <a:latin typeface="Goudy Old Style" panose="02020502050305020303" pitchFamily="18" charset="0"/>
              </a:rPr>
              <a:t>significant variation in food access coverage across Cook County. Many community areas in the southern and western parts of the county experience lower access to supermarkets, while these same areas also have higher levels of social vulnerability and poverty. The spatial overlap of limited food access with vulnerable populations </a:t>
            </a:r>
            <a:r>
              <a:rPr lang="en-US" dirty="0" smtClean="0">
                <a:latin typeface="Goudy Old Style" panose="02020502050305020303" pitchFamily="18" charset="0"/>
              </a:rPr>
              <a:t>sights </a:t>
            </a:r>
            <a:r>
              <a:rPr lang="en-US" dirty="0">
                <a:latin typeface="Goudy Old Style" panose="02020502050305020303" pitchFamily="18" charset="0"/>
              </a:rPr>
              <a:t>broader health inequities that </a:t>
            </a:r>
            <a:r>
              <a:rPr lang="en-US" dirty="0" smtClean="0">
                <a:latin typeface="Goudy Old Style" panose="02020502050305020303" pitchFamily="18" charset="0"/>
              </a:rPr>
              <a:t>might </a:t>
            </a:r>
            <a:r>
              <a:rPr lang="en-US" dirty="0">
                <a:latin typeface="Goudy Old Style" panose="02020502050305020303" pitchFamily="18" charset="0"/>
              </a:rPr>
              <a:t>contribute to chronic health issues. These findings demonstrate how GIS can support targeted interventions and policy planning to improve food access for </a:t>
            </a:r>
            <a:r>
              <a:rPr lang="en-US" dirty="0" smtClean="0">
                <a:latin typeface="Goudy Old Style" panose="02020502050305020303" pitchFamily="18" charset="0"/>
              </a:rPr>
              <a:t>under - served </a:t>
            </a:r>
            <a:r>
              <a:rPr lang="en-US" dirty="0">
                <a:latin typeface="Goudy Old Style" panose="02020502050305020303" pitchFamily="18" charset="0"/>
              </a:rPr>
              <a:t>communities.</a:t>
            </a:r>
          </a:p>
        </p:txBody>
      </p:sp>
      <p:pic>
        <p:nvPicPr>
          <p:cNvPr id="6146" name="Picture 2" descr="Exchange ideas - Free communications i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1825625"/>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0394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oudy Old Style" panose="02020502050305020303" pitchFamily="18" charset="0"/>
              </a:rPr>
              <a:t>References</a:t>
            </a:r>
            <a:r>
              <a:rPr lang="en-US" dirty="0" smtClean="0"/>
              <a:t> </a:t>
            </a:r>
            <a:endParaRPr lang="en-US" dirty="0"/>
          </a:p>
        </p:txBody>
      </p:sp>
      <p:sp>
        <p:nvSpPr>
          <p:cNvPr id="4" name="Rectangle 1"/>
          <p:cNvSpPr>
            <a:spLocks noGrp="1" noChangeArrowheads="1"/>
          </p:cNvSpPr>
          <p:nvPr>
            <p:ph idx="1"/>
          </p:nvPr>
        </p:nvSpPr>
        <p:spPr bwMode="auto">
          <a:xfrm>
            <a:off x="838200" y="2108468"/>
            <a:ext cx="852446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Goudy Old Style" panose="02020502050305020303" pitchFamily="18" charset="0"/>
              </a:rPr>
              <a:t>Chicago Data Portal. Community Areas Shapefile.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smtClean="0">
              <a:ln>
                <a:noFill/>
              </a:ln>
              <a:solidFill>
                <a:schemeClr val="tx1"/>
              </a:solidFill>
              <a:effectLst/>
              <a:latin typeface="Goudy Old Style" panose="0202050205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Goudy Old Style" panose="02020502050305020303" pitchFamily="18" charset="0"/>
              </a:rPr>
              <a:t>City of Chicago Open Data Portal. Supermarket Locations.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smtClean="0">
              <a:ln>
                <a:noFill/>
              </a:ln>
              <a:solidFill>
                <a:schemeClr val="tx1"/>
              </a:solidFill>
              <a:effectLst/>
              <a:latin typeface="Goudy Old Style" panose="0202050205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Goudy Old Style" panose="02020502050305020303" pitchFamily="18" charset="0"/>
              </a:rPr>
              <a:t>U.S. Census Bureau TIGER/Line Shapefiles. Road Network.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smtClean="0">
              <a:ln>
                <a:noFill/>
              </a:ln>
              <a:solidFill>
                <a:schemeClr val="tx1"/>
              </a:solidFill>
              <a:effectLst/>
              <a:latin typeface="Goudy Old Style" panose="0202050205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Goudy Old Style" panose="02020502050305020303" pitchFamily="18" charset="0"/>
              </a:rPr>
              <a:t>Chicago Health Atlas. Social Vulnerability, Poverty</a:t>
            </a:r>
            <a:r>
              <a:rPr kumimoji="0" lang="en-US" altLang="en-US" sz="2400" b="0" i="0" u="none" strike="noStrike" cap="none" normalizeH="0" dirty="0" smtClean="0">
                <a:ln>
                  <a:noFill/>
                </a:ln>
                <a:solidFill>
                  <a:schemeClr val="tx1"/>
                </a:solidFill>
                <a:effectLst/>
                <a:latin typeface="Goudy Old Style" panose="02020502050305020303" pitchFamily="18" charset="0"/>
              </a:rPr>
              <a:t> and</a:t>
            </a:r>
            <a:r>
              <a:rPr kumimoji="0" lang="en-US" altLang="en-US" sz="2400" b="0" i="0" u="none" strike="noStrike" cap="none" normalizeH="0" baseline="0" dirty="0" smtClean="0">
                <a:ln>
                  <a:noFill/>
                </a:ln>
                <a:solidFill>
                  <a:schemeClr val="tx1"/>
                </a:solidFill>
                <a:effectLst/>
                <a:latin typeface="Goudy Old Style" panose="02020502050305020303" pitchFamily="18" charset="0"/>
              </a:rPr>
              <a:t> Fruit/Veg Access Indicators.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smtClean="0">
              <a:ln>
                <a:noFill/>
              </a:ln>
              <a:solidFill>
                <a:schemeClr val="tx1"/>
              </a:solidFill>
              <a:effectLst/>
              <a:latin typeface="Goudy Old Style" panose="0202050205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Goudy Old Style" panose="02020502050305020303" pitchFamily="18" charset="0"/>
              </a:rPr>
              <a:t>ArcGIS Pro. ESRI GIS Software.</a:t>
            </a:r>
            <a:endParaRPr lang="en-US" altLang="en-US" sz="2400" dirty="0" smtClean="0">
              <a:latin typeface="Goudy Old Style" panose="02020502050305020303" pitchFamily="18" charset="0"/>
            </a:endParaRPr>
          </a:p>
        </p:txBody>
      </p:sp>
      <p:pic>
        <p:nvPicPr>
          <p:cNvPr id="7171" name="Picture 3" descr="Reference icon vector image Can be used for Literature | Premium Vecto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48662" y="1987473"/>
            <a:ext cx="2587625" cy="258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2847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TotalTime>
  <Words>586</Words>
  <Application>Microsoft Office PowerPoint</Application>
  <PresentationFormat>Widescreen</PresentationFormat>
  <Paragraphs>52</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Goudy Old Style</vt:lpstr>
      <vt:lpstr>Office Theme</vt:lpstr>
      <vt:lpstr>GIS Analysis of Food Access Inequities In Cook County </vt:lpstr>
      <vt:lpstr>Background &amp; Context</vt:lpstr>
      <vt:lpstr>Research Question !</vt:lpstr>
      <vt:lpstr>Data Sources</vt:lpstr>
      <vt:lpstr>Methods used</vt:lpstr>
      <vt:lpstr>Food Access Coverage : % Community Area within 0.5 miles of Supermarkets.</vt:lpstr>
      <vt:lpstr>Social Vulnerability Index (SVI 2022)</vt:lpstr>
      <vt:lpstr>Poverty Rate </vt:lpstr>
      <vt:lpstr>Summary Results</vt:lpstr>
      <vt:lpstr>Discussion and Key Takeaways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GIS Analysis of Food Access Inequities In Cook County</dc:title>
  <dc:creator>omar quadri</dc:creator>
  <cp:lastModifiedBy>omar quadri</cp:lastModifiedBy>
  <cp:revision>8</cp:revision>
  <dcterms:created xsi:type="dcterms:W3CDTF">2025-06-15T02:13:54Z</dcterms:created>
  <dcterms:modified xsi:type="dcterms:W3CDTF">2025-06-15T03:13:11Z</dcterms:modified>
</cp:coreProperties>
</file>